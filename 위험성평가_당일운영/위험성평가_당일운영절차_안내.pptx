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794760"/>
            <a:ext cx="1463040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DEEAF6"/>
                </a:solidFill>
                <a:latin typeface="맑은 고딕"/>
              </a:rPr>
              <a:t>사업장 담당자 안내지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2026년 하반기 위험성평가 실시 당일 운영 절차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10515600" cy="1645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EEAF6"/>
                </a:solidFill>
                <a:latin typeface="맑은 고딕"/>
              </a:rPr>
              <a:t>일시  |  2026년    월    일 (   )     :     ~     :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DEEAF6"/>
                </a:solidFill>
                <a:latin typeface="맑은 고딕"/>
              </a:rPr>
              <a:t>집결 장소  |  1층 광장  →  교육장(          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DEEAF6"/>
                </a:solidFill>
                <a:latin typeface="맑은 고딕"/>
              </a:rPr>
              <a:t>참여 대상  |  현장 노동자 전원 (조 편성:    개 조, 조당 5~6명 권장)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DEEAF6"/>
                </a:solidFill>
                <a:latin typeface="맑은 고딕"/>
              </a:rPr>
              <a:t>진행  |  사업장 담당자 1명 (보조 1명 권장)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당일 진행 순서 한눈에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411480"/>
            <a:ext cx="20116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총 약 125분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120640"/>
                <a:gridCol w="3200400"/>
                <a:gridCol w="18288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순서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장소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시간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62626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집결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1층 광장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10분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62626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오프닝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1층 광장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5분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62626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대책제안점검표 살펴보기</a:t>
                      </a: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1층 광장 → 현장</a:t>
                      </a: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20분</a:t>
                      </a: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62626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교육장 이동·스티커 부착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교육장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10분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626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지난 개선 결과 공유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교육장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15분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62626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개인 개선점 작성·발표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교육장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20분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62626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조별 개선대책 논의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교육장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25분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62626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조별 발표·마무리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교육장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맑은 고딕"/>
                        </a:rPr>
                        <a:t>20분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맑은 고딕"/>
              </a:rPr>
              <a:t>※ 3번(20분)을 제외한 소요시간은 권장 기준이며 사업장 여건에 맞게 조정합니다.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1. 집결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411480"/>
            <a:ext cx="20116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10분 · 1층 광장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참여자 1층 광장 집결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4028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참석자 명단 서명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01752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대책제안점검표·필기구 배부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맑은 고딕"/>
              </a:rPr>
              <a:t>담당자 할 일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3864"/>
                </a:solidFill>
                <a:latin typeface="맑은 고딕"/>
              </a:rPr>
              <a:t>명단 서명 확인, 점검표 인원수만큼 준비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2. 오프닝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411480"/>
            <a:ext cx="20116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5분 · 1층 광장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"2026년 하반기 위험성평가를 진행하겠습니다."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4028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오늘 진행 순서와 종료 시간 안내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01752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"자유롭게 말해도 불이익 없습니다" 전달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맑은 고딕"/>
              </a:rPr>
              <a:t>담당자 할 일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3864"/>
                </a:solidFill>
                <a:latin typeface="맑은 고딕"/>
              </a:rPr>
              <a:t>오프닝 멘트 낭독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맑은 고딕"/>
              </a:rPr>
              <a:t>※ 오프닝 멘트는 짧게. 바로 3단계로 넘어갑니다.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3. 대책제안점검표 살펴보기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411480"/>
            <a:ext cx="20116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20분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① 30문항 한 명씩 돌아가며 소리 내어 읽기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4028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② 점검표 체크 방법·주의사항 안내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01752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③ 현장을 둘러보며 점검표 체크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맑은 고딕"/>
              </a:rPr>
              <a:t>담당자 할 일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3864"/>
                </a:solidFill>
                <a:latin typeface="맑은 고딕"/>
              </a:rPr>
              <a:t>체크 방법 설명, 현장 순회 동선 인솔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맑은 고딕"/>
              </a:rPr>
              <a:t>※ 문항 읽기 → 체크 방법 안내 → 현장 순회 체크 순서로 20분 안에 진행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대책제안점검표 체크 방법·주의사항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411480"/>
            <a:ext cx="20116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3단계 안내용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394960" cy="640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체크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394960" cy="384048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262626"/>
                </a:solidFill>
                <a:latin typeface="맑은 고딕"/>
              </a:rPr>
              <a:t>• 문항을 읽고 현장에서 직접 본 그대로 체크합니다.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262626"/>
                </a:solidFill>
                <a:latin typeface="맑은 고딕"/>
              </a:rPr>
              <a:t>• 위험하다고 느낀 곳은 위치(설비명·구역)를 옆에 짧게 적습니다.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262626"/>
                </a:solidFill>
                <a:latin typeface="맑은 고딕"/>
              </a:rPr>
              <a:t>• 잘 모르는 문항은 비워두지 말고 "모름" 또는 "?"로 표시합니다.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394960" cy="6400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주의사항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384048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262626"/>
                </a:solidFill>
                <a:latin typeface="맑은 고딕"/>
              </a:rPr>
              <a:t>• 가동 중인 기계·설비에는 가까이 가지 않습니다.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262626"/>
                </a:solidFill>
                <a:latin typeface="맑은 고딕"/>
              </a:rPr>
              <a:t>• 현장 이동 시 보행 통로를 이용하고 지게차 등 운반장비에 주의합니다.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262626"/>
                </a:solidFill>
                <a:latin typeface="맑은 고딕"/>
              </a:rPr>
              <a:t>• 정답·오답이 없으며, 체크 결과로 누구도 불이익을 받지 않습니다.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262626"/>
                </a:solidFill>
                <a:latin typeface="맑은 고딕"/>
              </a:rPr>
              <a:t>• 현장 순회는 조별로 함께 이동하고 시간(20분)을 지킵니다.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맑은 고딕"/>
              </a:rPr>
              <a:t>※ 참여자에게 그대로 읽어주세요.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4. 교육장 이동·스티커 부착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411480"/>
            <a:ext cx="20116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10분 · 교육장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교육장 도착 후 게시판(전지)의 대책제안 번호에 스티커 붙이기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4028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가장 시급하다고 생각한 번호에 부착 (예: 1인 3개)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200400"/>
            <a:ext cx="868680" cy="5486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29968" y="3200400"/>
            <a:ext cx="868680" cy="5486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4096" y="3200400"/>
            <a:ext cx="868680" cy="5486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3621024" y="3090672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78224" y="3200400"/>
            <a:ext cx="868680" cy="5486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2352" y="3200400"/>
            <a:ext cx="868680" cy="5486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200400"/>
            <a:ext cx="868680" cy="5486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6693408" y="3090672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50608" y="3200400"/>
            <a:ext cx="868680" cy="5486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7</a:t>
            </a:r>
          </a:p>
        </p:txBody>
      </p:sp>
      <p:sp>
        <p:nvSpPr>
          <p:cNvPr id="19" name="Oval 18"/>
          <p:cNvSpPr/>
          <p:nvPr/>
        </p:nvSpPr>
        <p:spPr>
          <a:xfrm>
            <a:off x="7717536" y="3090672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74736" y="3200400"/>
            <a:ext cx="868680" cy="5486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3200400"/>
            <a:ext cx="868680" cy="5486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22992" y="3200400"/>
            <a:ext cx="868680" cy="5486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247120" y="3200400"/>
            <a:ext cx="1097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맑은 고딕"/>
              </a:rPr>
              <a:t>… 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맑은 고딕"/>
              </a:rPr>
              <a:t>담당자 할 일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3864"/>
                </a:solidFill>
                <a:latin typeface="맑은 고딕"/>
              </a:rPr>
              <a:t>번호판(1~30번) 게시, 스티커 배부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맑은 고딕"/>
              </a:rPr>
              <a:t>※ 스티커가 많이 붙은 번호 = 우선 개선 후보 → 7단계 조별 논의에 활용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5. 지난 개선 결과 공유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411480"/>
            <a:ext cx="20116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15분 · 교육장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지난 위험성평가에서 나온 개선사항 소개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4028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개선활동 결과 공유 (개선 전·후 사진)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01752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미완료 항목은 사유와 향후 계획 안내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맑은 고딕"/>
              </a:rPr>
              <a:t>담당자 할 일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3864"/>
                </a:solidFill>
                <a:latin typeface="맑은 고딕"/>
              </a:rPr>
              <a:t>개선 전·후 사진 출력 또는 화면 준비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맑은 고딕"/>
              </a:rPr>
              <a:t>※ "말하면 바뀐다"는 경험이 참여를 이끕니다. 작은 개선도 꼭 소개하세요.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6. 개인 개선점 작성·발표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411480"/>
            <a:ext cx="20116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20분 · 교육장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개인이 생각하는 개선점 2~3가지 작성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4028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한 명씩 개선점과 그 이유 이야기하기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맑은 고딕"/>
              </a:rPr>
              <a:t>담당자 할 일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3864"/>
                </a:solidFill>
                <a:latin typeface="맑은 고딕"/>
              </a:rPr>
              <a:t>작성지 배부, 발언 시간 1인 1분 내외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맑은 고딕"/>
              </a:rPr>
              <a:t>※ 잘 쓴 의견·못 쓴 의견 구분 없이 모두 받아 적습니다.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7. 조별 개선대책 논의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411480"/>
            <a:ext cx="20116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25분 · 교육장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스티커 결과 + 개인 의견을 모아 조별 논의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4028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조별 개선대책 정하기 (무엇을 / 누가 / 언제까지)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맑은 고딕"/>
              </a:rPr>
              <a:t>담당자 할 일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3864"/>
                </a:solidFill>
                <a:latin typeface="맑은 고딕"/>
              </a:rPr>
              <a:t>조별 기록지 배부, 순회하며 논의 지원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맑은 고딕"/>
              </a:rPr>
              <a:t>※ 대책마다 담당자와 기한을 꼭 정합니다.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8. 조별 발표·마무리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411480"/>
            <a:ext cx="20116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20분 · 교육장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조별 개선대책 발표 (조당 3분 내외)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457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맑은 고딕"/>
              </a:rPr>
              <a:t>●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40280"/>
            <a:ext cx="10607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맑은 고딕"/>
              </a:rPr>
              <a:t>담당자가 개선 담당·완료 기한 확정 후 마무리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맑은 고딕"/>
              </a:rPr>
              <a:t>담당자 할 일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3864"/>
                </a:solidFill>
                <a:latin typeface="맑은 고딕"/>
              </a:rPr>
              <a:t>발표 내용 기록, 단체 사진 촬영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맑은 고딕"/>
              </a:rPr>
              <a:t>※ 발표 내용은 위험성평가표에 그대로 반영합니다.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사전 준비물 체크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411480"/>
            <a:ext cx="20116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전날까지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3864"/>
                </a:solidFill>
                <a:latin typeface="맑은 고딕"/>
              </a:rPr>
              <a:t>□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417320"/>
            <a:ext cx="100584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62626"/>
                </a:solidFill>
                <a:latin typeface="맑은 고딕"/>
              </a:rPr>
              <a:t>참석자 명단(서명용)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75688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3864"/>
                </a:solidFill>
                <a:latin typeface="맑은 고딕"/>
              </a:rPr>
              <a:t>□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075688"/>
            <a:ext cx="100584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62626"/>
                </a:solidFill>
                <a:latin typeface="맑은 고딕"/>
              </a:rPr>
              <a:t>대책제안점검표(30문항) — 인원수 + 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34056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3864"/>
                </a:solidFill>
                <a:latin typeface="맑은 고딕"/>
              </a:rPr>
              <a:t>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734056"/>
            <a:ext cx="100584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62626"/>
                </a:solidFill>
                <a:latin typeface="맑은 고딕"/>
              </a:rPr>
              <a:t>필기구, 클립보드(현장 체크용)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92424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3864"/>
                </a:solidFill>
                <a:latin typeface="맑은 고딕"/>
              </a:rPr>
              <a:t>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392424"/>
            <a:ext cx="100584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62626"/>
                </a:solidFill>
                <a:latin typeface="맑은 고딕"/>
              </a:rPr>
              <a:t>대책제안 번호판(1~30번 전지) + 스티커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50791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3864"/>
                </a:solidFill>
                <a:latin typeface="맑은 고딕"/>
              </a:rPr>
              <a:t>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050791"/>
            <a:ext cx="100584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62626"/>
                </a:solidFill>
                <a:latin typeface="맑은 고딕"/>
              </a:rPr>
              <a:t>지난 위험성평가 개선 전·후 사진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709159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3864"/>
                </a:solidFill>
                <a:latin typeface="맑은 고딕"/>
              </a:rPr>
              <a:t>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709159"/>
            <a:ext cx="100584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62626"/>
                </a:solidFill>
                <a:latin typeface="맑은 고딕"/>
              </a:rPr>
              <a:t>개인 개선점 작성지, 조별 기록지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67528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3864"/>
                </a:solidFill>
                <a:latin typeface="맑은 고딕"/>
              </a:rPr>
              <a:t>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367528"/>
            <a:ext cx="100584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62626"/>
                </a:solidFill>
                <a:latin typeface="맑은 고딕"/>
              </a:rPr>
              <a:t>카메라(휴대폰) — 진행 사진 촬영용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위험성평가 후 할 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011680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당일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463040"/>
            <a:ext cx="8961120" cy="82296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626"/>
                </a:solidFill>
                <a:latin typeface="맑은 고딕"/>
              </a:rPr>
              <a:t>스티커 집계 결과·조별 개선대책을 위험성평가표에 옮겨 적기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2011680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1주 이내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514600"/>
            <a:ext cx="8961120" cy="82296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626"/>
                </a:solidFill>
                <a:latin typeface="맑은 고딕"/>
              </a:rPr>
              <a:t>개선대책·담당자·기한을 현장 게시판에 게시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2011680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기한 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3566160"/>
            <a:ext cx="8961120" cy="82296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626"/>
                </a:solidFill>
                <a:latin typeface="맑은 고딕"/>
              </a:rPr>
              <a:t>개선 완료 시 개선 후 사진 촬영 → 다음 위험성평가에서 공유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17720"/>
            <a:ext cx="2011680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보관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4617720"/>
            <a:ext cx="8961120" cy="82296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626"/>
                </a:solidFill>
                <a:latin typeface="맑은 고딕"/>
              </a:rPr>
              <a:t>참석자 명단·사진·점검표·조별 기록지 보관 (근로자 참여 증빙)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맑은 고딕"/>
              </a:rPr>
              <a:t>※ 위험성평가는 노동자가 참여해야 합니다(산업안전보건법 제36조). 참석자 명단과 진행 사진은 반드시 보관하세요.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